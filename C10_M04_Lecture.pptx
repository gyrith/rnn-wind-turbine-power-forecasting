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Fira Sans ExtraBold"/>
      <p:bold r:id="rId20"/>
      <p:boldItalic r:id="rId21"/>
    </p:embeddedFont>
    <p:embeddedFont>
      <p:font typeface="Fira Sans"/>
      <p:regular r:id="rId22"/>
      <p:bold r:id="rId23"/>
      <p:italic r:id="rId24"/>
      <p:boldItalic r:id="rId25"/>
    </p:embeddedFont>
    <p:embeddedFont>
      <p:font typeface="Karla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  <p:ext uri="GoogleSlidesCustomDataVersion2">
      <go:slidesCustomData xmlns:go="http://customooxmlschemas.google.com/" r:id="rId30" roundtripDataSignature="AMtx7mismGZSOmq+/86RqOFSNvFdgOYU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Bold-bold.fntdata"/><Relationship Id="rId22" Type="http://schemas.openxmlformats.org/officeDocument/2006/relationships/font" Target="fonts/FiraSans-regular.fntdata"/><Relationship Id="rId21" Type="http://schemas.openxmlformats.org/officeDocument/2006/relationships/font" Target="fonts/FiraSansExtraBold-boldItalic.fntdata"/><Relationship Id="rId24" Type="http://schemas.openxmlformats.org/officeDocument/2006/relationships/font" Target="fonts/FiraSans-italic.fntdata"/><Relationship Id="rId23" Type="http://schemas.openxmlformats.org/officeDocument/2006/relationships/font" Target="fonts/Fira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Karla-regular.fntdata"/><Relationship Id="rId25" Type="http://schemas.openxmlformats.org/officeDocument/2006/relationships/font" Target="fonts/FiraSans-boldItalic.fntdata"/><Relationship Id="rId28" Type="http://schemas.openxmlformats.org/officeDocument/2006/relationships/font" Target="fonts/Karla-italic.fntdata"/><Relationship Id="rId27" Type="http://schemas.openxmlformats.org/officeDocument/2006/relationships/font" Target="fonts/Karl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Karl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letchley.instructure.com/courses/419/pages/what-are-recurrent-neural-networks?module_item_id=37552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“Recurrent Neural Networks are built for </a:t>
            </a:r>
            <a:r>
              <a:rPr b="1" lang="en">
                <a:solidFill>
                  <a:schemeClr val="dk1"/>
                </a:solidFill>
              </a:rPr>
              <a:t>sequences</a:t>
            </a:r>
            <a:r>
              <a:rPr lang="en">
                <a:solidFill>
                  <a:schemeClr val="dk1"/>
                </a:solidFill>
              </a:rPr>
              <a:t>. They carry a </a:t>
            </a:r>
            <a:r>
              <a:rPr b="1" lang="en">
                <a:solidFill>
                  <a:schemeClr val="dk1"/>
                </a:solidFill>
              </a:rPr>
              <a:t>hidden state</a:t>
            </a:r>
            <a:r>
              <a:rPr lang="en">
                <a:solidFill>
                  <a:schemeClr val="dk1"/>
                </a:solidFill>
              </a:rPr>
              <a:t> forward, so each new prediction is informed by what came before. That’s why RNNs shine when </a:t>
            </a:r>
            <a:r>
              <a:rPr b="1" lang="en">
                <a:solidFill>
                  <a:schemeClr val="dk1"/>
                </a:solidFill>
              </a:rPr>
              <a:t>order and context</a:t>
            </a:r>
            <a:r>
              <a:rPr lang="en">
                <a:solidFill>
                  <a:schemeClr val="dk1"/>
                </a:solidFill>
              </a:rPr>
              <a:t> matter—think text, time series, and sensor signals—and why they show up in areas like </a:t>
            </a:r>
            <a:r>
              <a:rPr b="1" lang="en">
                <a:solidFill>
                  <a:schemeClr val="dk1"/>
                </a:solidFill>
              </a:rPr>
              <a:t>finance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supply chain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chemeClr val="dk1"/>
                </a:solidFill>
              </a:rPr>
              <a:t>healthcare</a:t>
            </a:r>
            <a:r>
              <a:rPr lang="en">
                <a:solidFill>
                  <a:schemeClr val="dk1"/>
                </a:solidFill>
              </a:rPr>
              <a:t>.”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4eaa44383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34eaa4438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“Let’s align on vocabulary. A </a:t>
            </a:r>
            <a:r>
              <a:rPr b="1" lang="en">
                <a:solidFill>
                  <a:schemeClr val="dk1"/>
                </a:solidFill>
              </a:rPr>
              <a:t>recurrent neuron</a:t>
            </a:r>
            <a:r>
              <a:rPr lang="en">
                <a:solidFill>
                  <a:schemeClr val="dk1"/>
                </a:solidFill>
              </a:rPr>
              <a:t> processes one </a:t>
            </a:r>
            <a:r>
              <a:rPr b="1" lang="en">
                <a:solidFill>
                  <a:schemeClr val="dk1"/>
                </a:solidFill>
              </a:rPr>
              <a:t>time step</a:t>
            </a:r>
            <a:r>
              <a:rPr lang="en">
                <a:solidFill>
                  <a:schemeClr val="dk1"/>
                </a:solidFill>
              </a:rPr>
              <a:t> at a time while updating a </a:t>
            </a:r>
            <a:r>
              <a:rPr b="1" lang="en">
                <a:solidFill>
                  <a:schemeClr val="dk1"/>
                </a:solidFill>
              </a:rPr>
              <a:t>hidden state</a:t>
            </a:r>
            <a:r>
              <a:rPr lang="en">
                <a:solidFill>
                  <a:schemeClr val="dk1"/>
                </a:solidFill>
              </a:rPr>
              <a:t>. Parameters are </a:t>
            </a:r>
            <a:r>
              <a:rPr b="1" lang="en">
                <a:solidFill>
                  <a:schemeClr val="dk1"/>
                </a:solidFill>
              </a:rPr>
              <a:t>shared across time</a:t>
            </a:r>
            <a:r>
              <a:rPr lang="en">
                <a:solidFill>
                  <a:schemeClr val="dk1"/>
                </a:solidFill>
              </a:rPr>
              <a:t>, which keeps the model compact. Training uses </a:t>
            </a:r>
            <a:r>
              <a:rPr b="1" lang="en">
                <a:solidFill>
                  <a:schemeClr val="dk1"/>
                </a:solidFill>
              </a:rPr>
              <a:t>Backpropagation Through Time</a:t>
            </a:r>
            <a:r>
              <a:rPr lang="en">
                <a:solidFill>
                  <a:schemeClr val="dk1"/>
                </a:solidFill>
              </a:rPr>
              <a:t>, and a classic pitfall of vanilla RNNs is </a:t>
            </a:r>
            <a:r>
              <a:rPr b="1" lang="en">
                <a:solidFill>
                  <a:schemeClr val="dk1"/>
                </a:solidFill>
              </a:rPr>
              <a:t>vanishing gradients</a:t>
            </a:r>
            <a:r>
              <a:rPr lang="en">
                <a:solidFill>
                  <a:schemeClr val="dk1"/>
                </a:solidFill>
              </a:rPr>
              <a:t> on long sequences.”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4f63cf967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34f63cf96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“At each step we </a:t>
            </a:r>
            <a:r>
              <a:rPr b="1" lang="en">
                <a:solidFill>
                  <a:schemeClr val="dk1"/>
                </a:solidFill>
              </a:rPr>
              <a:t>receive input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update the hidden state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chemeClr val="dk1"/>
                </a:solidFill>
              </a:rPr>
              <a:t>produce an output</a:t>
            </a:r>
            <a:r>
              <a:rPr lang="en">
                <a:solidFill>
                  <a:schemeClr val="dk1"/>
                </a:solidFill>
              </a:rPr>
              <a:t>. That rolling hidden state is what gives RNNs their </a:t>
            </a:r>
            <a:r>
              <a:rPr b="1" lang="en">
                <a:solidFill>
                  <a:schemeClr val="dk1"/>
                </a:solidFill>
              </a:rPr>
              <a:t>contextual memory</a:t>
            </a:r>
            <a:r>
              <a:rPr lang="en">
                <a:solidFill>
                  <a:schemeClr val="dk1"/>
                </a:solidFill>
              </a:rPr>
              <a:t>. This simple loop is powerful for </a:t>
            </a:r>
            <a:r>
              <a:rPr b="1" lang="en">
                <a:solidFill>
                  <a:schemeClr val="dk1"/>
                </a:solidFill>
              </a:rPr>
              <a:t>NLP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time-series forecasting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chemeClr val="dk1"/>
                </a:solidFill>
              </a:rPr>
              <a:t>sensor/signal</a:t>
            </a:r>
            <a:r>
              <a:rPr lang="en">
                <a:solidFill>
                  <a:schemeClr val="dk1"/>
                </a:solidFill>
              </a:rPr>
              <a:t> applications where temporal dependence matters.”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2547984f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32547984f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“Use the architecture diagram to visualize time unfolding left-to-right: the </a:t>
            </a:r>
            <a:r>
              <a:rPr b="1" lang="en">
                <a:solidFill>
                  <a:schemeClr val="dk1"/>
                </a:solidFill>
              </a:rPr>
              <a:t>same cell</a:t>
            </a:r>
            <a:r>
              <a:rPr lang="en">
                <a:solidFill>
                  <a:schemeClr val="dk1"/>
                </a:solidFill>
              </a:rPr>
              <a:t> repeats at each step, passing its </a:t>
            </a:r>
            <a:r>
              <a:rPr b="1" lang="en">
                <a:solidFill>
                  <a:schemeClr val="dk1"/>
                </a:solidFill>
              </a:rPr>
              <a:t>hidden state</a:t>
            </a:r>
            <a:r>
              <a:rPr lang="en">
                <a:solidFill>
                  <a:schemeClr val="dk1"/>
                </a:solidFill>
              </a:rPr>
              <a:t> forward. Inputs stream in stepwise; outputs can be read stepwise as well. The key takeaways here are </a:t>
            </a:r>
            <a:r>
              <a:rPr b="1" lang="en">
                <a:solidFill>
                  <a:schemeClr val="dk1"/>
                </a:solidFill>
              </a:rPr>
              <a:t>state propagation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weight sharing</a:t>
            </a:r>
            <a:r>
              <a:rPr lang="en">
                <a:solidFill>
                  <a:schemeClr val="dk1"/>
                </a:solidFill>
              </a:rPr>
              <a:t> over time.” </a:t>
            </a:r>
            <a:endParaRPr sz="1200">
              <a:solidFill>
                <a:schemeClr val="dk1"/>
              </a:solidFill>
            </a:endParaRPr>
          </a:p>
          <a:p>
            <a:pPr indent="0" lvl="0" marL="241300" marR="2413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Let’s break down the key components:</a:t>
            </a:r>
            <a:endParaRPr sz="1200">
              <a:solidFill>
                <a:schemeClr val="dk1"/>
              </a:solidFill>
            </a:endParaRPr>
          </a:p>
          <a:p>
            <a:pPr indent="-304800" lvl="0" marL="1130300" marR="6731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Time Dimension: The diagram shows three consecutive time steps - , , and , demonstrating how information flows through the network over time.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1130300" marR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Hidden State (): The blue circles represent the hidden state at each time step. The hidden state is a key feature of RNNs that allows them to maintain information from previous time steps.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1130300" marR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Equation: The top of the image shows the mathematical formula for computing the hidden state: </a:t>
            </a:r>
            <a:endParaRPr sz="1200">
              <a:solidFill>
                <a:schemeClr val="dk1"/>
              </a:solidFill>
            </a:endParaRPr>
          </a:p>
          <a:p>
            <a:pPr indent="-304800" lvl="1" marL="1587500" marR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: Weight matrix for the previous hidden state</a:t>
            </a:r>
            <a:endParaRPr sz="1200">
              <a:solidFill>
                <a:schemeClr val="dk1"/>
              </a:solidFill>
            </a:endParaRPr>
          </a:p>
          <a:p>
            <a:pPr indent="-304800" lvl="1" marL="1587500" marR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: Weight matrix for the current input</a:t>
            </a:r>
            <a:endParaRPr sz="1200">
              <a:solidFill>
                <a:schemeClr val="dk1"/>
              </a:solidFill>
            </a:endParaRPr>
          </a:p>
          <a:p>
            <a:pPr indent="-304800" lvl="1" marL="1587500" marR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: Bias term</a:t>
            </a:r>
            <a:endParaRPr sz="1200">
              <a:solidFill>
                <a:schemeClr val="dk1"/>
              </a:solidFill>
            </a:endParaRPr>
          </a:p>
          <a:p>
            <a:pPr indent="-304800" lvl="1" marL="1587500" marR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: Activation function that squashes values between -1 and 1</a:t>
            </a:r>
            <a:endParaRPr sz="1200">
              <a:solidFill>
                <a:schemeClr val="dk1"/>
              </a:solidFill>
            </a:endParaRPr>
          </a:p>
          <a:p>
            <a:pPr indent="-304800" lvl="0" marL="1130300" marR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Connections:</a:t>
            </a:r>
            <a:endParaRPr sz="1200">
              <a:solidFill>
                <a:schemeClr val="dk1"/>
              </a:solidFill>
            </a:endParaRPr>
          </a:p>
          <a:p>
            <a:pPr indent="-304800" lvl="1" marL="1587500" marR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Standard Connection (black arrows): From input to hidden state , and from hidden state  to output </a:t>
            </a:r>
            <a:endParaRPr sz="1200">
              <a:solidFill>
                <a:schemeClr val="dk1"/>
              </a:solidFill>
            </a:endParaRPr>
          </a:p>
          <a:p>
            <a:pPr indent="-304800" lvl="1" marL="1587500" marR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Recurrent Connection (red dotted arrows): From previous hidden state to current hidden state, allowing information to persist across time steps</a:t>
            </a:r>
            <a:endParaRPr sz="1200">
              <a:solidFill>
                <a:schemeClr val="dk1"/>
              </a:solidFill>
            </a:endParaRPr>
          </a:p>
          <a:p>
            <a:pPr indent="-304800" lvl="0" marL="1130300" marR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Inputs and Outputs:</a:t>
            </a:r>
            <a:endParaRPr sz="1200">
              <a:solidFill>
                <a:schemeClr val="dk1"/>
              </a:solidFill>
            </a:endParaRPr>
          </a:p>
          <a:p>
            <a:pPr indent="-304800" lvl="1" marL="1587500" marR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x(t) : Input at the current time step</a:t>
            </a:r>
            <a:endParaRPr sz="1200">
              <a:solidFill>
                <a:schemeClr val="dk1"/>
              </a:solidFill>
            </a:endParaRPr>
          </a:p>
          <a:p>
            <a:pPr indent="-304800" lvl="1" marL="1587500" marR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y(t) : Output at the current time step</a:t>
            </a:r>
            <a:endParaRPr sz="1200">
              <a:solidFill>
                <a:schemeClr val="dk1"/>
              </a:solidFill>
            </a:endParaRPr>
          </a:p>
          <a:p>
            <a:pPr indent="0" lvl="0" marL="0" marR="6731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2"/>
              </a:rPr>
              <a:t>https://bletchley.instructure.com/courses/419/pages/what-are-recurrent-neural-networks?module_item_id=37552</a:t>
            </a:r>
            <a:endParaRPr sz="1200">
              <a:solidFill>
                <a:schemeClr val="dk1"/>
              </a:solidFill>
            </a:endParaRPr>
          </a:p>
          <a:p>
            <a:pPr indent="0" lvl="0" marL="0" marR="6731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4f352642b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34f352642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d50292c37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7d50292c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d50292c37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7d50292c3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“Real-world outcomes underscore the impact. </a:t>
            </a:r>
            <a:r>
              <a:rPr b="1" lang="en">
                <a:solidFill>
                  <a:schemeClr val="dk1"/>
                </a:solidFill>
              </a:rPr>
              <a:t>JPMorgan Chase:</a:t>
            </a:r>
            <a:r>
              <a:rPr lang="en">
                <a:solidFill>
                  <a:schemeClr val="dk1"/>
                </a:solidFill>
              </a:rPr>
              <a:t> LSTM forecasts delivered </a:t>
            </a:r>
            <a:r>
              <a:rPr b="1" lang="en">
                <a:solidFill>
                  <a:schemeClr val="dk1"/>
                </a:solidFill>
              </a:rPr>
              <a:t>+23% accuracy</a:t>
            </a:r>
            <a:r>
              <a:rPr lang="en">
                <a:solidFill>
                  <a:schemeClr val="dk1"/>
                </a:solidFill>
              </a:rPr>
              <a:t> and about </a:t>
            </a:r>
            <a:r>
              <a:rPr b="1" lang="en">
                <a:solidFill>
                  <a:schemeClr val="dk1"/>
                </a:solidFill>
              </a:rPr>
              <a:t>$38M</a:t>
            </a:r>
            <a:r>
              <a:rPr lang="en">
                <a:solidFill>
                  <a:schemeClr val="dk1"/>
                </a:solidFill>
              </a:rPr>
              <a:t> in annual savings. </a:t>
            </a:r>
            <a:r>
              <a:rPr b="1" lang="en">
                <a:solidFill>
                  <a:schemeClr val="dk1"/>
                </a:solidFill>
              </a:rPr>
              <a:t>Walmart:</a:t>
            </a:r>
            <a:r>
              <a:rPr lang="en">
                <a:solidFill>
                  <a:schemeClr val="dk1"/>
                </a:solidFill>
              </a:rPr>
              <a:t> a multi-layer RNN cut </a:t>
            </a:r>
            <a:r>
              <a:rPr b="1" lang="en">
                <a:solidFill>
                  <a:schemeClr val="dk1"/>
                </a:solidFill>
              </a:rPr>
              <a:t>out-of-stocks by 30%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inventory costs by 15%</a:t>
            </a:r>
            <a:r>
              <a:rPr lang="en">
                <a:solidFill>
                  <a:schemeClr val="dk1"/>
                </a:solidFill>
              </a:rPr>
              <a:t>. </a:t>
            </a:r>
            <a:r>
              <a:rPr b="1" lang="en">
                <a:solidFill>
                  <a:schemeClr val="dk1"/>
                </a:solidFill>
              </a:rPr>
              <a:t>Mayo Clinic:</a:t>
            </a:r>
            <a:r>
              <a:rPr lang="en">
                <a:solidFill>
                  <a:schemeClr val="dk1"/>
                </a:solidFill>
              </a:rPr>
              <a:t> RNN-based monitoring detected issues </a:t>
            </a:r>
            <a:r>
              <a:rPr b="1" lang="en">
                <a:solidFill>
                  <a:schemeClr val="dk1"/>
                </a:solidFill>
              </a:rPr>
              <a:t>6 hours earlier</a:t>
            </a:r>
            <a:r>
              <a:rPr lang="en">
                <a:solidFill>
                  <a:schemeClr val="dk1"/>
                </a:solidFill>
              </a:rPr>
              <a:t> with </a:t>
            </a:r>
            <a:r>
              <a:rPr b="1" lang="en">
                <a:solidFill>
                  <a:schemeClr val="dk1"/>
                </a:solidFill>
              </a:rPr>
              <a:t>65% fewer false alarms</a:t>
            </a:r>
            <a:r>
              <a:rPr lang="en">
                <a:solidFill>
                  <a:schemeClr val="dk1"/>
                </a:solidFill>
              </a:rPr>
              <a:t>.”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44e3f0d77_2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944e3f0d77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“In the wind-power example, inputs include turbine </a:t>
            </a:r>
            <a:r>
              <a:rPr b="1" lang="en">
                <a:solidFill>
                  <a:schemeClr val="dk1"/>
                </a:solidFill>
              </a:rPr>
              <a:t>signals</a:t>
            </a:r>
            <a:r>
              <a:rPr lang="en">
                <a:solidFill>
                  <a:schemeClr val="dk1"/>
                </a:solidFill>
              </a:rPr>
              <a:t> like wind speed, direction, temperature, RPM, and power. We build </a:t>
            </a:r>
            <a:r>
              <a:rPr b="1" lang="en">
                <a:solidFill>
                  <a:schemeClr val="dk1"/>
                </a:solidFill>
              </a:rPr>
              <a:t>sliding time windows</a:t>
            </a:r>
            <a:r>
              <a:rPr lang="en">
                <a:solidFill>
                  <a:schemeClr val="dk1"/>
                </a:solidFill>
              </a:rPr>
              <a:t>, normalize, and pad or truncate as needed. The model uses a </a:t>
            </a:r>
            <a:r>
              <a:rPr b="1" lang="en">
                <a:solidFill>
                  <a:schemeClr val="dk1"/>
                </a:solidFill>
              </a:rPr>
              <a:t>stacked LSTM</a:t>
            </a:r>
            <a:r>
              <a:rPr lang="en">
                <a:solidFill>
                  <a:schemeClr val="dk1"/>
                </a:solidFill>
              </a:rPr>
              <a:t> with dense layers—</a:t>
            </a:r>
            <a:r>
              <a:rPr b="1" lang="en">
                <a:solidFill>
                  <a:schemeClr val="dk1"/>
                </a:solidFill>
              </a:rPr>
              <a:t>tuning units</a:t>
            </a:r>
            <a:r>
              <a:rPr lang="en">
                <a:solidFill>
                  <a:schemeClr val="dk1"/>
                </a:solidFill>
              </a:rPr>
              <a:t> to avoid under- or overfitting—and trains with </a:t>
            </a:r>
            <a:r>
              <a:rPr b="1" lang="en">
                <a:solidFill>
                  <a:schemeClr val="dk1"/>
                </a:solidFill>
              </a:rPr>
              <a:t>MSE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Adam</a:t>
            </a:r>
            <a:r>
              <a:rPr lang="en">
                <a:solidFill>
                  <a:schemeClr val="dk1"/>
                </a:solidFill>
              </a:rPr>
              <a:t>, plus </a:t>
            </a:r>
            <a:r>
              <a:rPr b="1" lang="en">
                <a:solidFill>
                  <a:schemeClr val="dk1"/>
                </a:solidFill>
              </a:rPr>
              <a:t>early stopping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checkpointing</a:t>
            </a:r>
            <a:r>
              <a:rPr lang="en">
                <a:solidFill>
                  <a:schemeClr val="dk1"/>
                </a:solidFill>
              </a:rPr>
              <a:t>. Outcome: improved forecasts and a deployment pipeline with continuous updates.”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44e3f0d77_2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944e3f0d77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“Watch for </a:t>
            </a:r>
            <a:r>
              <a:rPr b="1" lang="en">
                <a:solidFill>
                  <a:schemeClr val="dk1"/>
                </a:solidFill>
              </a:rPr>
              <a:t>missing values</a:t>
            </a:r>
            <a:r>
              <a:rPr lang="en">
                <a:solidFill>
                  <a:schemeClr val="dk1"/>
                </a:solidFill>
              </a:rPr>
              <a:t> and get </a:t>
            </a:r>
            <a:r>
              <a:rPr b="1" lang="en">
                <a:solidFill>
                  <a:schemeClr val="dk1"/>
                </a:solidFill>
              </a:rPr>
              <a:t>normalization</a:t>
            </a:r>
            <a:r>
              <a:rPr lang="en">
                <a:solidFill>
                  <a:schemeClr val="dk1"/>
                </a:solidFill>
              </a:rPr>
              <a:t> right; choose sensible </a:t>
            </a:r>
            <a:r>
              <a:rPr b="1" lang="en">
                <a:solidFill>
                  <a:schemeClr val="dk1"/>
                </a:solidFill>
              </a:rPr>
              <a:t>window lengths</a:t>
            </a:r>
            <a:r>
              <a:rPr lang="en">
                <a:solidFill>
                  <a:schemeClr val="dk1"/>
                </a:solidFill>
              </a:rPr>
              <a:t>. Decide between </a:t>
            </a:r>
            <a:r>
              <a:rPr b="1" lang="en">
                <a:solidFill>
                  <a:schemeClr val="dk1"/>
                </a:solidFill>
              </a:rPr>
              <a:t>LSTM vs. GRU</a:t>
            </a:r>
            <a:r>
              <a:rPr lang="en">
                <a:solidFill>
                  <a:schemeClr val="dk1"/>
                </a:solidFill>
              </a:rPr>
              <a:t>, number of layers, and units. Manage </a:t>
            </a:r>
            <a:r>
              <a:rPr b="1" lang="en">
                <a:solidFill>
                  <a:schemeClr val="dk1"/>
                </a:solidFill>
              </a:rPr>
              <a:t>vanishing/exploding gradients</a:t>
            </a:r>
            <a:r>
              <a:rPr lang="en">
                <a:solidFill>
                  <a:schemeClr val="dk1"/>
                </a:solidFill>
              </a:rPr>
              <a:t>—monitor loss and consider clipping when needed. Prevent </a:t>
            </a:r>
            <a:r>
              <a:rPr b="1" lang="en">
                <a:solidFill>
                  <a:schemeClr val="dk1"/>
                </a:solidFill>
              </a:rPr>
              <a:t>overfitting</a:t>
            </a:r>
            <a:r>
              <a:rPr lang="en">
                <a:solidFill>
                  <a:schemeClr val="dk1"/>
                </a:solidFill>
              </a:rPr>
              <a:t> with strong splits and </a:t>
            </a:r>
            <a:r>
              <a:rPr b="1" lang="en">
                <a:solidFill>
                  <a:schemeClr val="dk1"/>
                </a:solidFill>
              </a:rPr>
              <a:t>early stopping</a:t>
            </a:r>
            <a:r>
              <a:rPr lang="en">
                <a:solidFill>
                  <a:schemeClr val="dk1"/>
                </a:solidFill>
              </a:rPr>
              <a:t>. And weigh </a:t>
            </a:r>
            <a:r>
              <a:rPr b="1" lang="en">
                <a:solidFill>
                  <a:schemeClr val="dk1"/>
                </a:solidFill>
              </a:rPr>
              <a:t>sequence length, train/test ratio, and batch size</a:t>
            </a:r>
            <a:r>
              <a:rPr lang="en">
                <a:solidFill>
                  <a:schemeClr val="dk1"/>
                </a:solidFill>
              </a:rPr>
              <a:t> as deliberate trade-offs.”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88834" y="35482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286250" y="543075"/>
            <a:ext cx="3221100" cy="24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1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R</a:t>
            </a:r>
            <a:r>
              <a:rPr b="0" i="0" lang="en" sz="4100" u="none" cap="none" strike="noStrike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NNs &amp; Time Series Data</a:t>
            </a:r>
            <a:endParaRPr b="0" i="0" sz="3400" u="none" cap="none" strike="noStrike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600" u="none" cap="none" strike="noStrike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768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/>
          <p:nvPr/>
        </p:nvSpPr>
        <p:spPr>
          <a:xfrm>
            <a:off x="344167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3441675" y="329950"/>
            <a:ext cx="23214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Char char="●"/>
            </a:pPr>
            <a:r>
              <a:rPr b="1" lang="en" sz="900">
                <a:solidFill>
                  <a:schemeClr val="dk1"/>
                </a:solidFill>
              </a:rPr>
              <a:t>Recurrent Neural Networks (RNNs)</a:t>
            </a:r>
            <a:r>
              <a:rPr lang="en" sz="900">
                <a:solidFill>
                  <a:schemeClr val="dk1"/>
                </a:solidFill>
              </a:rPr>
              <a:t> handle </a:t>
            </a:r>
            <a:r>
              <a:rPr b="1" lang="en" sz="900">
                <a:solidFill>
                  <a:schemeClr val="dk1"/>
                </a:solidFill>
              </a:rPr>
              <a:t>sequences</a:t>
            </a:r>
            <a:r>
              <a:rPr lang="en" sz="900">
                <a:solidFill>
                  <a:schemeClr val="dk1"/>
                </a:solidFill>
              </a:rPr>
              <a:t> by keeping </a:t>
            </a:r>
            <a:r>
              <a:rPr b="1" lang="en" sz="900">
                <a:solidFill>
                  <a:schemeClr val="dk1"/>
                </a:solidFill>
              </a:rPr>
              <a:t>memory (hidden state)</a:t>
            </a:r>
            <a:r>
              <a:rPr lang="en" sz="900">
                <a:solidFill>
                  <a:schemeClr val="dk1"/>
                </a:solidFill>
              </a:rPr>
              <a:t> across time.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Char char="●"/>
            </a:pPr>
            <a:r>
              <a:rPr lang="en" sz="900">
                <a:solidFill>
                  <a:schemeClr val="dk1"/>
                </a:solidFill>
              </a:rPr>
              <a:t>Ideal when </a:t>
            </a:r>
            <a:r>
              <a:rPr b="1" lang="en" sz="900">
                <a:solidFill>
                  <a:schemeClr val="dk1"/>
                </a:solidFill>
              </a:rPr>
              <a:t>order &amp; context</a:t>
            </a:r>
            <a:r>
              <a:rPr lang="en" sz="900">
                <a:solidFill>
                  <a:schemeClr val="dk1"/>
                </a:solidFill>
              </a:rPr>
              <a:t> matter: text, time series, signals.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Char char="●"/>
            </a:pPr>
            <a:r>
              <a:rPr lang="en" sz="900">
                <a:solidFill>
                  <a:schemeClr val="dk1"/>
                </a:solidFill>
              </a:rPr>
              <a:t>Used across </a:t>
            </a:r>
            <a:r>
              <a:rPr b="1" lang="en" sz="900">
                <a:solidFill>
                  <a:schemeClr val="dk1"/>
                </a:solidFill>
              </a:rPr>
              <a:t>finance</a:t>
            </a:r>
            <a:r>
              <a:rPr lang="en" sz="900">
                <a:solidFill>
                  <a:schemeClr val="dk1"/>
                </a:solidFill>
              </a:rPr>
              <a:t>, </a:t>
            </a:r>
            <a:r>
              <a:rPr b="1" lang="en" sz="900">
                <a:solidFill>
                  <a:schemeClr val="dk1"/>
                </a:solidFill>
              </a:rPr>
              <a:t>supply chain</a:t>
            </a:r>
            <a:r>
              <a:rPr lang="en" sz="900">
                <a:solidFill>
                  <a:schemeClr val="dk1"/>
                </a:solidFill>
              </a:rPr>
              <a:t>, </a:t>
            </a:r>
            <a:r>
              <a:rPr b="1" lang="en" sz="900">
                <a:solidFill>
                  <a:schemeClr val="dk1"/>
                </a:solidFill>
              </a:rPr>
              <a:t>healthcare</a:t>
            </a:r>
            <a:r>
              <a:rPr lang="en" sz="900">
                <a:solidFill>
                  <a:schemeClr val="dk1"/>
                </a:solidFill>
              </a:rPr>
              <a:t>, etc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69" name="Google Shape;69;p2"/>
          <p:cNvSpPr txBox="1"/>
          <p:nvPr>
            <p:ph idx="4294967295" type="ctrTitle"/>
          </p:nvPr>
        </p:nvSpPr>
        <p:spPr>
          <a:xfrm>
            <a:off x="351375" y="1042675"/>
            <a:ext cx="3090300" cy="17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RNNs &amp; Time Series: The big picture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4eaa44383_0_39"/>
          <p:cNvSpPr/>
          <p:nvPr/>
        </p:nvSpPr>
        <p:spPr>
          <a:xfrm>
            <a:off x="3398700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34eaa44383_0_39"/>
          <p:cNvSpPr txBox="1"/>
          <p:nvPr/>
        </p:nvSpPr>
        <p:spPr>
          <a:xfrm>
            <a:off x="3327325" y="845350"/>
            <a:ext cx="2820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Recurrent neuron / hidden state / time step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Weight sharing across time steps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Backpropagation Through Time (BPTT)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lang="en" sz="1100">
                <a:solidFill>
                  <a:schemeClr val="dk1"/>
                </a:solidFill>
              </a:rPr>
              <a:t>Vanishing gradients challenge in standard RNNs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6" name="Google Shape;76;g334eaa44383_0_39"/>
          <p:cNvSpPr txBox="1"/>
          <p:nvPr>
            <p:ph idx="4294967295" type="ctrTitle"/>
          </p:nvPr>
        </p:nvSpPr>
        <p:spPr>
          <a:xfrm>
            <a:off x="322800" y="1043000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4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Core building blocks &amp; terms</a:t>
            </a:r>
            <a:endParaRPr b="1" i="0" sz="34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" name="Google Shape;77;g334eaa44383_0_39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4f63cf967_0_26"/>
          <p:cNvSpPr/>
          <p:nvPr/>
        </p:nvSpPr>
        <p:spPr>
          <a:xfrm>
            <a:off x="3398625" y="9525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34f63cf967_0_26"/>
          <p:cNvSpPr txBox="1"/>
          <p:nvPr/>
        </p:nvSpPr>
        <p:spPr>
          <a:xfrm>
            <a:off x="3336825" y="499225"/>
            <a:ext cx="28320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LSTM</a:t>
            </a:r>
            <a:r>
              <a:rPr lang="en" sz="1100">
                <a:solidFill>
                  <a:schemeClr val="dk1"/>
                </a:solidFill>
              </a:rPr>
              <a:t>: memory cell with </a:t>
            </a:r>
            <a:r>
              <a:rPr b="1" lang="en" sz="1100">
                <a:solidFill>
                  <a:schemeClr val="dk1"/>
                </a:solidFill>
              </a:rPr>
              <a:t>input / output / forget gates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GRU</a:t>
            </a:r>
            <a:r>
              <a:rPr lang="en" sz="1100">
                <a:solidFill>
                  <a:schemeClr val="dk1"/>
                </a:solidFill>
              </a:rPr>
              <a:t>: simplified gating with similar performance, fewer params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Bidirectional RNNs</a:t>
            </a:r>
            <a:r>
              <a:rPr lang="en" sz="1100">
                <a:solidFill>
                  <a:schemeClr val="dk1"/>
                </a:solidFill>
              </a:rPr>
              <a:t>: process forward &amp; backward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ra Sans"/>
              <a:buChar char="●"/>
            </a:pPr>
            <a:r>
              <a:rPr b="1" lang="en" sz="1100">
                <a:solidFill>
                  <a:schemeClr val="dk1"/>
                </a:solidFill>
              </a:rPr>
              <a:t>Seq2Seq</a:t>
            </a:r>
            <a:r>
              <a:rPr lang="en" sz="1100">
                <a:solidFill>
                  <a:schemeClr val="dk1"/>
                </a:solidFill>
              </a:rPr>
              <a:t>: encoder–decoder for sequence inputs/outputs of different lengths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4" name="Google Shape;84;g334f63cf967_0_26"/>
          <p:cNvSpPr txBox="1"/>
          <p:nvPr>
            <p:ph idx="4294967295" type="ctrTitle"/>
          </p:nvPr>
        </p:nvSpPr>
        <p:spPr>
          <a:xfrm>
            <a:off x="260925" y="1112900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4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Architectures that tackle long-term dependencies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" name="Google Shape;85;g334f63cf967_0_26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2547984f4_0_4"/>
          <p:cNvSpPr txBox="1"/>
          <p:nvPr/>
        </p:nvSpPr>
        <p:spPr>
          <a:xfrm>
            <a:off x="4855864" y="1049536"/>
            <a:ext cx="2467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g332547984f4_0_4"/>
          <p:cNvSpPr txBox="1"/>
          <p:nvPr>
            <p:ph type="title"/>
          </p:nvPr>
        </p:nvSpPr>
        <p:spPr>
          <a:xfrm>
            <a:off x="308707" y="474345"/>
            <a:ext cx="67569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0182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RNN Architecture</a:t>
            </a:r>
            <a:endParaRPr>
              <a:solidFill>
                <a:srgbClr val="10182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92" name="Google Shape;92;g332547984f4_0_4" title="RNNarchite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000" y="997250"/>
            <a:ext cx="4137724" cy="21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4f352642b_0_10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34f352642b_0_10"/>
          <p:cNvSpPr txBox="1"/>
          <p:nvPr/>
        </p:nvSpPr>
        <p:spPr>
          <a:xfrm>
            <a:off x="3398625" y="626425"/>
            <a:ext cx="2589600" cy="2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</a:rPr>
              <a:t>At each step: </a:t>
            </a:r>
            <a:r>
              <a:rPr b="1" lang="en" sz="1100">
                <a:solidFill>
                  <a:schemeClr val="dk1"/>
                </a:solidFill>
              </a:rPr>
              <a:t>receive input → update hidden state → produce output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Internal state creates </a:t>
            </a:r>
            <a:r>
              <a:rPr b="1" lang="en" sz="1100">
                <a:solidFill>
                  <a:schemeClr val="dk1"/>
                </a:solidFill>
              </a:rPr>
              <a:t>contextual memory</a:t>
            </a:r>
            <a:r>
              <a:rPr lang="en" sz="1100">
                <a:solidFill>
                  <a:schemeClr val="dk1"/>
                </a:solidFill>
              </a:rPr>
              <a:t> over time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Powerful for </a:t>
            </a:r>
            <a:r>
              <a:rPr b="1" lang="en" sz="1100">
                <a:solidFill>
                  <a:schemeClr val="dk1"/>
                </a:solidFill>
              </a:rPr>
              <a:t>NLP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time-series forecasting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sensor/signal</a:t>
            </a:r>
            <a:r>
              <a:rPr lang="en" sz="1100">
                <a:solidFill>
                  <a:schemeClr val="dk1"/>
                </a:solidFill>
              </a:rPr>
              <a:t> tasks</a:t>
            </a:r>
            <a:endParaRPr b="1" sz="13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" name="Google Shape;99;g334f352642b_0_10"/>
          <p:cNvSpPr txBox="1"/>
          <p:nvPr>
            <p:ph idx="4294967295" type="ctrTitle"/>
          </p:nvPr>
        </p:nvSpPr>
        <p:spPr>
          <a:xfrm>
            <a:off x="238325" y="119747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6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How </a:t>
            </a: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RNNs</a:t>
            </a:r>
            <a:r>
              <a:rPr b="1" i="0" lang="en" sz="36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 works: mechanism &amp; significance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" name="Google Shape;100;g334f352642b_0_10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d50292c37_0_6"/>
          <p:cNvSpPr/>
          <p:nvPr/>
        </p:nvSpPr>
        <p:spPr>
          <a:xfrm>
            <a:off x="358587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7d50292c37_0_6"/>
          <p:cNvSpPr txBox="1"/>
          <p:nvPr/>
        </p:nvSpPr>
        <p:spPr>
          <a:xfrm>
            <a:off x="3533275" y="524475"/>
            <a:ext cx="28227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305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AutoNum type="arabicPeriod"/>
            </a:pPr>
            <a:r>
              <a:rPr b="1" lang="en" sz="700">
                <a:solidFill>
                  <a:schemeClr val="dk1"/>
                </a:solidFill>
              </a:rPr>
              <a:t>Sequence Data Preparation</a:t>
            </a:r>
            <a:r>
              <a:rPr lang="en" sz="700">
                <a:solidFill>
                  <a:schemeClr val="dk1"/>
                </a:solidFill>
              </a:rPr>
              <a:t> (windows, normalization, lengths)</a:t>
            </a:r>
            <a:endParaRPr sz="700">
              <a:solidFill>
                <a:schemeClr val="dk1"/>
              </a:solidFill>
            </a:endParaRPr>
          </a:p>
          <a:p>
            <a:pPr indent="-27305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AutoNum type="arabicPeriod"/>
            </a:pPr>
            <a:r>
              <a:rPr b="1" lang="en" sz="700">
                <a:solidFill>
                  <a:schemeClr val="dk1"/>
                </a:solidFill>
              </a:rPr>
              <a:t>Architecture Design</a:t>
            </a:r>
            <a:r>
              <a:rPr lang="en" sz="700">
                <a:solidFill>
                  <a:schemeClr val="dk1"/>
                </a:solidFill>
              </a:rPr>
              <a:t> (choose RNN type; units/layers)</a:t>
            </a:r>
            <a:endParaRPr sz="700">
              <a:solidFill>
                <a:schemeClr val="dk1"/>
              </a:solidFill>
            </a:endParaRPr>
          </a:p>
          <a:p>
            <a:pPr indent="-27305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AutoNum type="arabicPeriod"/>
            </a:pPr>
            <a:r>
              <a:rPr b="1" lang="en" sz="700">
                <a:solidFill>
                  <a:schemeClr val="dk1"/>
                </a:solidFill>
              </a:rPr>
              <a:t>Configuration &amp; Training</a:t>
            </a:r>
            <a:r>
              <a:rPr lang="en" sz="700">
                <a:solidFill>
                  <a:schemeClr val="dk1"/>
                </a:solidFill>
              </a:rPr>
              <a:t> (loss/optimizer; BPTT)</a:t>
            </a:r>
            <a:endParaRPr sz="700">
              <a:solidFill>
                <a:schemeClr val="dk1"/>
              </a:solidFill>
            </a:endParaRPr>
          </a:p>
          <a:p>
            <a:pPr indent="-27305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AutoNum type="arabicPeriod"/>
            </a:pPr>
            <a:r>
              <a:rPr b="1" lang="en" sz="700">
                <a:solidFill>
                  <a:schemeClr val="dk1"/>
                </a:solidFill>
              </a:rPr>
              <a:t>Evaluation &amp; Validation</a:t>
            </a:r>
            <a:r>
              <a:rPr lang="en" sz="700">
                <a:solidFill>
                  <a:schemeClr val="dk1"/>
                </a:solidFill>
              </a:rPr>
              <a:t> (metrics; predicted vs actual)</a:t>
            </a:r>
            <a:endParaRPr sz="700">
              <a:solidFill>
                <a:schemeClr val="dk1"/>
              </a:solidFill>
            </a:endParaRPr>
          </a:p>
          <a:p>
            <a:pPr indent="-27305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AutoNum type="arabicPeriod"/>
            </a:pPr>
            <a:r>
              <a:rPr b="1" lang="en" sz="700">
                <a:solidFill>
                  <a:schemeClr val="dk1"/>
                </a:solidFill>
              </a:rPr>
              <a:t>Refinement &amp; Deployment</a:t>
            </a:r>
            <a:r>
              <a:rPr lang="en" sz="700">
                <a:solidFill>
                  <a:schemeClr val="dk1"/>
                </a:solidFill>
              </a:rPr>
              <a:t> (iterate; real-world readiness)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</a:rPr>
              <a:t>Key considerations</a:t>
            </a:r>
            <a:r>
              <a:rPr lang="en" sz="700">
                <a:solidFill>
                  <a:schemeClr val="dk1"/>
                </a:solidFill>
              </a:rPr>
              <a:t>: sequence integrity, gradient management, generalization, reliability</a:t>
            </a:r>
            <a:endParaRPr b="1" sz="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" name="Google Shape;107;g37d50292c37_0_6"/>
          <p:cNvSpPr txBox="1"/>
          <p:nvPr>
            <p:ph idx="4294967295" type="ctrTitle"/>
          </p:nvPr>
        </p:nvSpPr>
        <p:spPr>
          <a:xfrm>
            <a:off x="238325" y="1197475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RNN</a:t>
            </a:r>
            <a:r>
              <a:rPr b="1" i="0" lang="en" sz="36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 Process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8" name="Google Shape;108;g37d50292c37_0_6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d50292c37_0_14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7d50292c37_0_14"/>
          <p:cNvSpPr txBox="1"/>
          <p:nvPr/>
        </p:nvSpPr>
        <p:spPr>
          <a:xfrm>
            <a:off x="3451125" y="517625"/>
            <a:ext cx="2790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JPMorgan Chase</a:t>
            </a:r>
            <a:r>
              <a:rPr lang="en" sz="1100">
                <a:solidFill>
                  <a:schemeClr val="dk1"/>
                </a:solidFill>
              </a:rPr>
              <a:t>: LSTM forecasts → </a:t>
            </a:r>
            <a:r>
              <a:rPr b="1" lang="en" sz="1100">
                <a:solidFill>
                  <a:schemeClr val="dk1"/>
                </a:solidFill>
              </a:rPr>
              <a:t>+23%</a:t>
            </a:r>
            <a:r>
              <a:rPr lang="en" sz="1100">
                <a:solidFill>
                  <a:schemeClr val="dk1"/>
                </a:solidFill>
              </a:rPr>
              <a:t> accuracy; </a:t>
            </a:r>
            <a:r>
              <a:rPr b="1" lang="en" sz="1100">
                <a:solidFill>
                  <a:schemeClr val="dk1"/>
                </a:solidFill>
              </a:rPr>
              <a:t>$38M</a:t>
            </a:r>
            <a:r>
              <a:rPr lang="en" sz="1100">
                <a:solidFill>
                  <a:schemeClr val="dk1"/>
                </a:solidFill>
              </a:rPr>
              <a:t> annual savings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Walmart</a:t>
            </a:r>
            <a:r>
              <a:rPr lang="en" sz="1100">
                <a:solidFill>
                  <a:schemeClr val="dk1"/>
                </a:solidFill>
              </a:rPr>
              <a:t>: multi-layer RNN → </a:t>
            </a:r>
            <a:r>
              <a:rPr b="1" lang="en" sz="1100">
                <a:solidFill>
                  <a:schemeClr val="dk1"/>
                </a:solidFill>
              </a:rPr>
              <a:t>–30%</a:t>
            </a:r>
            <a:r>
              <a:rPr lang="en" sz="1100">
                <a:solidFill>
                  <a:schemeClr val="dk1"/>
                </a:solidFill>
              </a:rPr>
              <a:t> out-of-stocks, </a:t>
            </a:r>
            <a:r>
              <a:rPr b="1" lang="en" sz="1100">
                <a:solidFill>
                  <a:schemeClr val="dk1"/>
                </a:solidFill>
              </a:rPr>
              <a:t>–15%</a:t>
            </a:r>
            <a:r>
              <a:rPr lang="en" sz="1100">
                <a:solidFill>
                  <a:schemeClr val="dk1"/>
                </a:solidFill>
              </a:rPr>
              <a:t> inventory costs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Mayo Clinic</a:t>
            </a:r>
            <a:r>
              <a:rPr lang="en" sz="1100">
                <a:solidFill>
                  <a:schemeClr val="dk1"/>
                </a:solidFill>
              </a:rPr>
              <a:t>: RNN monitoring → detects </a:t>
            </a:r>
            <a:r>
              <a:rPr b="1" lang="en" sz="1100">
                <a:solidFill>
                  <a:schemeClr val="dk1"/>
                </a:solidFill>
              </a:rPr>
              <a:t>6 hours earlier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–65%</a:t>
            </a:r>
            <a:r>
              <a:rPr lang="en" sz="1100">
                <a:solidFill>
                  <a:schemeClr val="dk1"/>
                </a:solidFill>
              </a:rPr>
              <a:t> false alarms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" name="Google Shape;115;g37d50292c37_0_14"/>
          <p:cNvSpPr txBox="1"/>
          <p:nvPr>
            <p:ph idx="4294967295" type="ctrTitle"/>
          </p:nvPr>
        </p:nvSpPr>
        <p:spPr>
          <a:xfrm>
            <a:off x="160575" y="1203450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6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Industry examples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6" name="Google Shape;116;g37d50292c37_0_14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44e3f0d77_2_7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944e3f0d77_2_7"/>
          <p:cNvSpPr txBox="1"/>
          <p:nvPr/>
        </p:nvSpPr>
        <p:spPr>
          <a:xfrm>
            <a:off x="3451125" y="517625"/>
            <a:ext cx="29259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</a:rPr>
              <a:t>Data</a:t>
            </a:r>
            <a:r>
              <a:rPr lang="en" sz="800">
                <a:solidFill>
                  <a:schemeClr val="dk1"/>
                </a:solidFill>
              </a:rPr>
              <a:t>: turbine signals (wind speed, direction, temp, RPM, power)</a:t>
            </a:r>
            <a:br>
              <a:rPr lang="en" sz="8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</a:rPr>
              <a:t>Prep</a:t>
            </a:r>
            <a:r>
              <a:rPr lang="en" sz="800">
                <a:solidFill>
                  <a:schemeClr val="dk1"/>
                </a:solidFill>
              </a:rPr>
              <a:t>: sliding </a:t>
            </a:r>
            <a:r>
              <a:rPr b="1" lang="en" sz="800">
                <a:solidFill>
                  <a:schemeClr val="dk1"/>
                </a:solidFill>
              </a:rPr>
              <a:t>time windows</a:t>
            </a:r>
            <a:r>
              <a:rPr lang="en" sz="800">
                <a:solidFill>
                  <a:schemeClr val="dk1"/>
                </a:solidFill>
              </a:rPr>
              <a:t>, normalization, padding/truncation</a:t>
            </a:r>
            <a:br>
              <a:rPr lang="en" sz="8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</a:rPr>
              <a:t>Model</a:t>
            </a:r>
            <a:r>
              <a:rPr lang="en" sz="800">
                <a:solidFill>
                  <a:schemeClr val="dk1"/>
                </a:solidFill>
              </a:rPr>
              <a:t>: </a:t>
            </a:r>
            <a:r>
              <a:rPr b="1" lang="en" sz="800">
                <a:solidFill>
                  <a:schemeClr val="dk1"/>
                </a:solidFill>
              </a:rPr>
              <a:t>LSTM</a:t>
            </a:r>
            <a:r>
              <a:rPr lang="en" sz="800">
                <a:solidFill>
                  <a:schemeClr val="dk1"/>
                </a:solidFill>
              </a:rPr>
              <a:t> stack + dense layers; tune units to avoid under/overfit</a:t>
            </a:r>
            <a:br>
              <a:rPr lang="en" sz="8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</a:rPr>
              <a:t>Training</a:t>
            </a:r>
            <a:r>
              <a:rPr lang="en" sz="800">
                <a:solidFill>
                  <a:schemeClr val="dk1"/>
                </a:solidFill>
              </a:rPr>
              <a:t>: MSE loss, Adam; </a:t>
            </a:r>
            <a:r>
              <a:rPr b="1" lang="en" sz="800">
                <a:solidFill>
                  <a:schemeClr val="dk1"/>
                </a:solidFill>
              </a:rPr>
              <a:t>early stopping</a:t>
            </a:r>
            <a:r>
              <a:rPr lang="en" sz="800">
                <a:solidFill>
                  <a:schemeClr val="dk1"/>
                </a:solidFill>
              </a:rPr>
              <a:t> &amp; </a:t>
            </a:r>
            <a:r>
              <a:rPr b="1" lang="en" sz="800">
                <a:solidFill>
                  <a:schemeClr val="dk1"/>
                </a:solidFill>
              </a:rPr>
              <a:t>checkpointing</a:t>
            </a:r>
            <a:br>
              <a:rPr b="1" lang="en" sz="800">
                <a:solidFill>
                  <a:schemeClr val="dk1"/>
                </a:solidFill>
              </a:rPr>
            </a:br>
            <a:endParaRPr b="1"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</a:rPr>
              <a:t>Outcome</a:t>
            </a:r>
            <a:r>
              <a:rPr lang="en" sz="800">
                <a:solidFill>
                  <a:schemeClr val="dk1"/>
                </a:solidFill>
              </a:rPr>
              <a:t>: improved forecasts; deployment pipeline &amp; continuous updates</a:t>
            </a:r>
            <a:endParaRPr b="1" sz="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3" name="Google Shape;123;g3944e3f0d77_2_7"/>
          <p:cNvSpPr txBox="1"/>
          <p:nvPr>
            <p:ph idx="4294967295" type="ctrTitle"/>
          </p:nvPr>
        </p:nvSpPr>
        <p:spPr>
          <a:xfrm>
            <a:off x="160575" y="1203450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Case study: wind power forecasting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" name="Google Shape;124;g3944e3f0d77_2_7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44e3f0d77_2_15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944e3f0d77_2_15"/>
          <p:cNvSpPr txBox="1"/>
          <p:nvPr/>
        </p:nvSpPr>
        <p:spPr>
          <a:xfrm>
            <a:off x="3451125" y="517625"/>
            <a:ext cx="28008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Data prep</a:t>
            </a:r>
            <a:r>
              <a:rPr lang="en" sz="900">
                <a:solidFill>
                  <a:schemeClr val="dk1"/>
                </a:solidFill>
              </a:rPr>
              <a:t>: missing values, normalization, correct sequence windows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Architecture choice</a:t>
            </a:r>
            <a:r>
              <a:rPr lang="en" sz="900">
                <a:solidFill>
                  <a:schemeClr val="dk1"/>
                </a:solidFill>
              </a:rPr>
              <a:t>: LSTM vs GRU; sequence length; units/layers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Training issues</a:t>
            </a:r>
            <a:r>
              <a:rPr lang="en" sz="900">
                <a:solidFill>
                  <a:schemeClr val="dk1"/>
                </a:solidFill>
              </a:rPr>
              <a:t>: vanishing/exploding gradients; consider activation/clip; monitor loss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Overfitting</a:t>
            </a:r>
            <a:r>
              <a:rPr lang="en" sz="900">
                <a:solidFill>
                  <a:schemeClr val="dk1"/>
                </a:solidFill>
              </a:rPr>
              <a:t>: use proper splits, early stopping; evaluate on unseen data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Decisions</a:t>
            </a:r>
            <a:r>
              <a:rPr lang="en" sz="900">
                <a:solidFill>
                  <a:schemeClr val="dk1"/>
                </a:solidFill>
              </a:rPr>
              <a:t>: sequence length, train/test ratio, </a:t>
            </a:r>
            <a:r>
              <a:rPr b="1" lang="en" sz="900">
                <a:solidFill>
                  <a:schemeClr val="dk1"/>
                </a:solidFill>
              </a:rPr>
              <a:t>batch size</a:t>
            </a:r>
            <a:r>
              <a:rPr lang="en" sz="900">
                <a:solidFill>
                  <a:schemeClr val="dk1"/>
                </a:solidFill>
              </a:rPr>
              <a:t> trade-off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1" name="Google Shape;131;g3944e3f0d77_2_15"/>
          <p:cNvSpPr txBox="1"/>
          <p:nvPr>
            <p:ph idx="4294967295" type="ctrTitle"/>
          </p:nvPr>
        </p:nvSpPr>
        <p:spPr>
          <a:xfrm>
            <a:off x="160575" y="1203450"/>
            <a:ext cx="30759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Common Challenges &amp; Decision Points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2" name="Google Shape;132;g3944e3f0d77_2_15"/>
          <p:cNvSpPr txBox="1"/>
          <p:nvPr/>
        </p:nvSpPr>
        <p:spPr>
          <a:xfrm>
            <a:off x="106325" y="2516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